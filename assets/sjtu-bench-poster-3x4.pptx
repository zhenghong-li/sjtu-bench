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120640" y="-1097280"/>
            <a:ext cx="3474720" cy="3474720"/>
          </a:xfrm>
          <a:prstGeom prst="ellipse">
            <a:avLst/>
          </a:prstGeom>
          <a:solidFill>
            <a:srgbClr val="0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5760720"/>
            <a:ext cx="1828800" cy="1828800"/>
          </a:xfrm>
          <a:prstGeom prst="ellipse">
            <a:avLst/>
          </a:prstGeom>
          <a:solidFill>
            <a:srgbClr val="1A2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12080" y="7132320"/>
            <a:ext cx="1280160" cy="1280160"/>
          </a:xfrm>
          <a:prstGeom prst="ellipse">
            <a:avLst/>
          </a:prstGeom>
          <a:solidFill>
            <a:srgbClr val="2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457200"/>
            <a:ext cx="2651760" cy="347472"/>
          </a:xfrm>
          <a:prstGeom prst="roundRect">
            <a:avLst>
              <a:gd name="adj" fmla="val 10000"/>
            </a:avLst>
          </a:prstGeom>
          <a:solidFill>
            <a:srgbClr val="16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512064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2D3EE"/>
                </a:solidFill>
                <a:latin typeface="Microsoft YaHei"/>
                <a:ea typeface="Microsoft YaHei"/>
              </a:rPr>
              <a:t>SJTU · CAMPUS AI 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5852160" cy="1737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400" b="1">
                <a:solidFill>
                  <a:srgbClr val="F8FAFC"/>
                </a:solidFill>
                <a:latin typeface="Microsoft YaHei"/>
                <a:ea typeface="Microsoft YaHei"/>
              </a:rPr>
              <a:t>SJTU-</a:t>
            </a:r>
          </a:p>
          <a:p>
            <a:r>
              <a:rPr sz="5400" b="1">
                <a:solidFill>
                  <a:srgbClr val="22D3EE"/>
                </a:solidFill>
                <a:latin typeface="Microsoft YaHei"/>
                <a:ea typeface="Microsoft YaHei"/>
              </a:rPr>
              <a:t>BENCH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697480"/>
            <a:ext cx="57607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22D3EE"/>
                </a:solidFill>
                <a:latin typeface="Microsoft YaHei"/>
                <a:ea typeface="Microsoft YaHei"/>
              </a:rPr>
              <a:t>AI </a:t>
            </a:r>
            <a:r>
              <a:rPr sz="2300" b="1">
                <a:solidFill>
                  <a:srgbClr val="F8FAFC"/>
                </a:solidFill>
                <a:latin typeface="Microsoft YaHei"/>
                <a:ea typeface="Microsoft YaHei"/>
              </a:rPr>
              <a:t>帮你掌握校园的一切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2461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Microsoft YaHei"/>
                <a:ea typeface="Microsoft YaHei"/>
              </a:rPr>
              <a:t>15 个真实校园任务 · L1–L4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39312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639312"/>
            <a:ext cx="713232" cy="566928"/>
          </a:xfrm>
          <a:prstGeom prst="roundRect">
            <a:avLst>
              <a:gd name="adj" fmla="val 10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76472"/>
            <a:ext cx="713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490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8FAFC"/>
                </a:solidFill>
                <a:latin typeface="Microsoft YaHei"/>
                <a:ea typeface="Microsoft YaHei"/>
              </a:rPr>
              <a:t>查课表 / 通知 / 水源 / 交我办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15968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4315968"/>
            <a:ext cx="713232" cy="566928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53128"/>
            <a:ext cx="713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2569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8FAFC"/>
                </a:solidFill>
                <a:latin typeface="Microsoft YaHei"/>
                <a:ea typeface="Microsoft YaHei"/>
              </a:rPr>
              <a:t>DDL / 公众号 / 邮箱 / 活动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92624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992624"/>
            <a:ext cx="713232" cy="566928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29784"/>
            <a:ext cx="713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10235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8FAFC"/>
                </a:solidFill>
                <a:latin typeface="Microsoft YaHei"/>
                <a:ea typeface="Microsoft YaHei"/>
              </a:rPr>
              <a:t>政务流程 / 云盘 / 报销（只预填）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69280"/>
            <a:ext cx="5852160" cy="566928"/>
          </a:xfrm>
          <a:prstGeom prst="roundRect">
            <a:avLst>
              <a:gd name="adj" fmla="val 10000"/>
            </a:avLst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669280"/>
            <a:ext cx="713232" cy="566928"/>
          </a:xfrm>
          <a:prstGeom prst="roundRect">
            <a:avLst>
              <a:gd name="adj" fmla="val 10000"/>
            </a:avLst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806440"/>
            <a:ext cx="713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L4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8FAFC"/>
                </a:solidFill>
                <a:latin typeface="Microsoft YaHei"/>
                <a:ea typeface="Microsoft YaHei"/>
              </a:rPr>
              <a:t>每日简报 / 工作流 / 你的 Agent 方案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6355080"/>
            <a:ext cx="5852160" cy="1984248"/>
          </a:xfrm>
          <a:prstGeom prst="roundRect">
            <a:avLst>
              <a:gd name="adj" fmla="val 10000"/>
            </a:avLst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67512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8FAFC"/>
                </a:solidFill>
                <a:latin typeface="Microsoft YaHei"/>
                <a:ea typeface="Microsoft YaHei"/>
              </a:rPr>
              <a:t>发送 “我要试一试 sjtubench”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7296912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登录一下 jAccount  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7589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8FAFC"/>
                </a:solidFill>
                <a:latin typeface="Microsoft YaHei"/>
                <a:ea typeface="Microsoft YaHei"/>
              </a:rPr>
              <a:t>AI 能帮我省多少时间？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7973568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22D3EE"/>
                </a:solidFill>
                <a:latin typeface="Microsoft YaHei"/>
                <a:ea typeface="Microsoft YaHei"/>
              </a:rPr>
              <a:t>一切隐私信息严格保存在本地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8503920"/>
            <a:ext cx="6858000" cy="640080"/>
          </a:xfrm>
          <a:prstGeom prst="rect">
            <a:avLst/>
          </a:prstGeom>
          <a:solidFill>
            <a:srgbClr val="0F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86410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8FAFC"/>
                </a:solidFill>
                <a:latin typeface="Microsoft YaHei"/>
                <a:ea typeface="Microsoft YaHei"/>
              </a:rPr>
              <a:t>GitHub 搜索：SJTU-Bench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86502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娱乐 · 非官方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