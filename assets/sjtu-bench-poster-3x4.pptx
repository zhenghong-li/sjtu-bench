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-1097280"/>
            <a:ext cx="3474720" cy="3474720"/>
          </a:xfrm>
          <a:prstGeom prst="ellipse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577840" y="5577840"/>
            <a:ext cx="2011680" cy="2011680"/>
          </a:xfrm>
          <a:prstGeom prst="ellipse">
            <a:avLst/>
          </a:prstGeom>
          <a:solidFill>
            <a:srgbClr val="1A2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20640" y="7040880"/>
            <a:ext cx="1371600" cy="1371600"/>
          </a:xfrm>
          <a:prstGeom prst="ellipse">
            <a:avLst/>
          </a:prstGeom>
          <a:solidFill>
            <a:srgbClr val="2A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858000" cy="1097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457200"/>
            <a:ext cx="2651760" cy="347472"/>
          </a:xfrm>
          <a:prstGeom prst="roundRect">
            <a:avLst>
              <a:gd name="adj" fmla="val 8000"/>
            </a:avLst>
          </a:prstGeom>
          <a:solidFill>
            <a:srgbClr val="16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512064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Microsoft YaHei"/>
                <a:ea typeface="Microsoft YaHei"/>
              </a:rPr>
              <a:t>SJTU · CAMPUS AI BENCH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87552"/>
            <a:ext cx="5943600" cy="1737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Microsoft YaHei"/>
                <a:ea typeface="Microsoft YaHei"/>
              </a:rPr>
              <a:t>SJTU-</a:t>
            </a:r>
          </a:p>
          <a:p>
            <a:r>
              <a:rPr sz="5400" b="1">
                <a:solidFill>
                  <a:srgbClr val="22D3EE"/>
                </a:solidFill>
                <a:latin typeface="Microsoft YaHei"/>
                <a:ea typeface="Microsoft YaHei"/>
              </a:rPr>
              <a:t>BENCH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788920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  <a:ea typeface="Microsoft YaHei"/>
              </a:rPr>
              <a:t>15 个任务，
测测你的校园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657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Microsoft YaHei"/>
                <a:ea typeface="Microsoft YaHei"/>
              </a:rPr>
              <a:t>登一次 jAccount，让 AI 真的帮你办事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4251960"/>
            <a:ext cx="548640" cy="310896"/>
          </a:xfrm>
          <a:prstGeom prst="roundRect">
            <a:avLst>
              <a:gd name="adj" fmla="val 8000"/>
            </a:avLst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27024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220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24281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8FAFC"/>
                </a:solidFill>
                <a:latin typeface="Microsoft YaHei"/>
                <a:ea typeface="Microsoft YaHei"/>
              </a:rPr>
              <a:t>课表 / 通知 / 水源 / 交我办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709160"/>
            <a:ext cx="548640" cy="310896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72744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220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0001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8FAFC"/>
                </a:solidFill>
                <a:latin typeface="Microsoft YaHei"/>
                <a:ea typeface="Microsoft YaHei"/>
              </a:rPr>
              <a:t>DDL / 公众号 / 邮箱 / 活动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5166360"/>
            <a:ext cx="548640" cy="310896"/>
          </a:xfrm>
          <a:prstGeom prst="roundRect">
            <a:avLst>
              <a:gd name="adj" fmla="val 8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518464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220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15721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8FAFC"/>
                </a:solidFill>
                <a:latin typeface="Microsoft YaHei"/>
                <a:ea typeface="Microsoft YaHei"/>
              </a:rPr>
              <a:t>政务流程 / 云盘 / 报销（只预填）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" y="5623560"/>
            <a:ext cx="548640" cy="310896"/>
          </a:xfrm>
          <a:prstGeom prst="roundRect">
            <a:avLst>
              <a:gd name="adj" fmla="val 8000"/>
            </a:avLst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64184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220"/>
                </a:solidFill>
                <a:latin typeface="Microsoft YaHei"/>
                <a:ea typeface="Microsoft YaHei"/>
              </a:rPr>
              <a:t>L4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61441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8FAFC"/>
                </a:solidFill>
                <a:latin typeface="Microsoft YaHei"/>
                <a:ea typeface="Microsoft YaHei"/>
              </a:rPr>
              <a:t>每日简报 / 工作流 / 你的 Agent 方案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263640"/>
            <a:ext cx="5852160" cy="196596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6473952"/>
            <a:ext cx="5303520" cy="402336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547104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220"/>
                </a:solidFill>
                <a:latin typeface="Microsoft YaHei"/>
                <a:ea typeface="Microsoft YaHei"/>
              </a:rPr>
              <a:t>对 agent 说这句话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7040880"/>
            <a:ext cx="5303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Microsoft YaHei"/>
                <a:ea typeface="Microsoft YaHei"/>
              </a:rPr>
              <a:t>“我要试一试 sjtubench”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781812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2D3EE"/>
                </a:solidFill>
                <a:latin typeface="Microsoft YaHei"/>
                <a:ea typeface="Microsoft YaHei"/>
              </a:rPr>
              <a:t>LLM 评分 · 匿名排行 · 隐私不出本机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8503920"/>
            <a:ext cx="6858000" cy="640080"/>
          </a:xfrm>
          <a:prstGeom prst="rect">
            <a:avLst/>
          </a:prstGeom>
          <a:solidFill>
            <a:srgbClr val="0F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863193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8FAFC"/>
                </a:solidFill>
                <a:latin typeface="Microsoft YaHei"/>
                <a:ea typeface="Microsoft YaHei"/>
              </a:rPr>
              <a:t>github.com/zhenghong-li/sjtu-bench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864108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娱乐 · 非官方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