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32720" y="-1371600"/>
            <a:ext cx="3931920" cy="3931920"/>
          </a:xfrm>
          <a:prstGeom prst="ellipse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4114800"/>
            <a:ext cx="2468880" cy="2468880"/>
          </a:xfrm>
          <a:prstGeom prst="ellipse">
            <a:avLst/>
          </a:prstGeom>
          <a:solidFill>
            <a:srgbClr val="1A2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212080"/>
            <a:ext cx="1188720" cy="1188720"/>
          </a:xfrm>
          <a:prstGeom prst="ellipse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457200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5120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2D3EE"/>
                </a:solidFill>
                <a:latin typeface="Microsoft YaHei"/>
                <a:ea typeface="Microsoft YaHei"/>
              </a:rPr>
              <a:t>SJTU · CAMPUS AI 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32688"/>
            <a:ext cx="73152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F8FAFC"/>
                </a:solidFill>
                <a:latin typeface="Microsoft YaHei"/>
                <a:ea typeface="Microsoft YaHei"/>
              </a:rPr>
              <a:t>SJTU-</a:t>
            </a:r>
            <a:r>
              <a:rPr sz="5400" b="1">
                <a:solidFill>
                  <a:srgbClr val="22D3EE"/>
                </a:solidFill>
                <a:latin typeface="Microsoft YaHei"/>
                <a:ea typeface="Microsoft YaHei"/>
              </a:rPr>
              <a:t>BENCH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10512"/>
            <a:ext cx="7498079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22D3EE"/>
                </a:solidFill>
                <a:latin typeface="Microsoft YaHei"/>
                <a:ea typeface="Microsoft YaHei"/>
              </a:rPr>
              <a:t>AI </a:t>
            </a:r>
            <a:r>
              <a:rPr sz="3000" b="1">
                <a:solidFill>
                  <a:srgbClr val="F8FAFC"/>
                </a:solidFill>
                <a:latin typeface="Microsoft YaHei"/>
                <a:ea typeface="Microsoft YaHei"/>
              </a:rPr>
              <a:t>帮你掌握校园的一切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4871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</a:rPr>
              <a:t>15 个真实校园任务 · L1–L4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72384"/>
            <a:ext cx="6629400" cy="713232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072384"/>
            <a:ext cx="822960" cy="713232"/>
          </a:xfrm>
          <a:prstGeom prst="roundRect">
            <a:avLst>
              <a:gd name="adj" fmla="val 10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B1220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04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</a:rPr>
              <a:t>查课表 / 通知 / 水源 / 交我办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6629400" cy="713232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822960" cy="713232"/>
          </a:xfrm>
          <a:prstGeom prst="roundRect">
            <a:avLst>
              <a:gd name="adj" fmla="val 10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105656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B1220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059935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</a:rPr>
              <a:t>DDL / 公众号 / 邮箱 / 活动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91456"/>
            <a:ext cx="6629400" cy="713232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791456"/>
            <a:ext cx="822960" cy="713232"/>
          </a:xfrm>
          <a:prstGeom prst="roundRect">
            <a:avLst>
              <a:gd name="adj" fmla="val 10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65192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B1220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919472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</a:rPr>
              <a:t>政务流程 / 云盘 / 报销（只预填）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50992"/>
            <a:ext cx="6629400" cy="713232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822960" cy="713232"/>
          </a:xfrm>
          <a:prstGeom prst="roundRect">
            <a:avLst>
              <a:gd name="adj" fmla="val 10000"/>
            </a:avLst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2472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B1220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779007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</a:rPr>
              <a:t>每日简报 / 工作流 / 你的 Agent 方案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1234440"/>
            <a:ext cx="3886200" cy="5074920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1691640"/>
            <a:ext cx="3520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  <a:ea typeface="Microsoft YaHei"/>
              </a:rPr>
              <a:t>“我要试一试
sjtubench”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06324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</a:rPr>
              <a:t>登录一下 jAccount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502152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2D3EE"/>
                </a:solidFill>
                <a:latin typeface="Microsoft YaHei"/>
                <a:ea typeface="Microsoft YaHe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087368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Microsoft YaHei"/>
                <a:ea typeface="Microsoft YaHei"/>
              </a:rPr>
              <a:t>AI 能帮我省多少时间？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650992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icrosoft YaHei"/>
                <a:ea typeface="Microsoft YaHei"/>
              </a:rPr>
              <a:t>一切隐私信息严格保存在本地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51052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Microsoft YaHei"/>
                <a:ea typeface="Microsoft YaHei"/>
              </a:rPr>
              <a:t>github.com/zhenghong-li/sjtu-bench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6528816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</a:rPr>
              <a:t>娱乐向 · 非官方 ·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