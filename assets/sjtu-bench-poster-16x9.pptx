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241280" y="-1280160"/>
            <a:ext cx="3840480" cy="3840480"/>
          </a:xfrm>
          <a:prstGeom prst="ellipse">
            <a:avLst/>
          </a:prstGeom>
          <a:solidFill>
            <a:srgbClr val="0F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0" y="4206240"/>
            <a:ext cx="2377440" cy="2377440"/>
          </a:xfrm>
          <a:prstGeom prst="ellipse">
            <a:avLst/>
          </a:prstGeom>
          <a:solidFill>
            <a:srgbClr val="1A2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5120640"/>
            <a:ext cx="1280160" cy="1280160"/>
          </a:xfrm>
          <a:prstGeom prst="ellipse">
            <a:avLst/>
          </a:prstGeom>
          <a:solidFill>
            <a:srgbClr val="2A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502920"/>
            <a:ext cx="3017520" cy="384048"/>
          </a:xfrm>
          <a:prstGeom prst="roundRect">
            <a:avLst>
              <a:gd name="adj" fmla="val 8000"/>
            </a:avLst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6692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Microsoft YaHei"/>
                <a:ea typeface="Microsoft YaHei"/>
              </a:rPr>
              <a:t>SJTU · CAMPUS AI BENCH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87552"/>
            <a:ext cx="859536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5400" b="1">
                <a:solidFill>
                  <a:srgbClr val="F8FAFC"/>
                </a:solidFill>
                <a:latin typeface="Microsoft YaHei"/>
                <a:ea typeface="Microsoft YaHei"/>
              </a:rPr>
              <a:t>SJTU-</a:t>
            </a:r>
            <a:r>
              <a:rPr sz="5400" b="1">
                <a:solidFill>
                  <a:srgbClr val="22D3EE"/>
                </a:solidFill>
                <a:latin typeface="Microsoft YaHei"/>
                <a:ea typeface="Microsoft YaHei"/>
              </a:rPr>
              <a:t>BENCH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83664"/>
            <a:ext cx="7680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8FAFC"/>
                </a:solidFill>
                <a:latin typeface="Microsoft YaHei"/>
                <a:ea typeface="Microsoft YaHei"/>
              </a:rPr>
              <a:t>15 个任务，测测你的校园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05456"/>
            <a:ext cx="7589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Microsoft YaHei"/>
                <a:ea typeface="Microsoft YaHei"/>
              </a:rPr>
              <a:t>登一次 jAccount，看 AI 能不能真的帮你办事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218688"/>
            <a:ext cx="566928" cy="329184"/>
          </a:xfrm>
          <a:prstGeom prst="roundRect">
            <a:avLst>
              <a:gd name="adj" fmla="val 8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241548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1220"/>
                </a:solidFill>
                <a:latin typeface="Microsoft YaHei"/>
                <a:ea typeface="Microsoft YaHei"/>
              </a:rPr>
              <a:t>L1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3209544"/>
            <a:ext cx="6126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</a:rPr>
              <a:t>查课表 / 通知 / 水源 / 交我办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21608"/>
            <a:ext cx="566928" cy="329184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744468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1220"/>
                </a:solidFill>
                <a:latin typeface="Microsoft YaHei"/>
                <a:ea typeface="Microsoft YaHei"/>
              </a:rPr>
              <a:t>L2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712464"/>
            <a:ext cx="6126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</a:rPr>
              <a:t>跨源汇总：DDL、公众号、邮箱、活动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24528"/>
            <a:ext cx="566928" cy="329184"/>
          </a:xfrm>
          <a:prstGeom prst="roundRect">
            <a:avLst>
              <a:gd name="adj" fmla="val 8000"/>
            </a:avLst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247388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1220"/>
                </a:solidFill>
                <a:latin typeface="Microsoft YaHei"/>
                <a:ea typeface="Microsoft YaHei"/>
              </a:rP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4215384"/>
            <a:ext cx="6126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</a:rPr>
              <a:t>多步操作：政务流程 / 云盘 / 报销（只预填）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727448"/>
            <a:ext cx="566928" cy="329184"/>
          </a:xfrm>
          <a:prstGeom prst="roundRect">
            <a:avLst>
              <a:gd name="adj" fmla="val 8000"/>
            </a:avLst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50308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1220"/>
                </a:solidFill>
                <a:latin typeface="Microsoft YaHei"/>
                <a:ea typeface="Microsoft YaHei"/>
              </a:rPr>
              <a:t>L4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4718304"/>
            <a:ext cx="6126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Microsoft YaHei"/>
                <a:ea typeface="Microsoft YaHei"/>
              </a:rPr>
              <a:t>每日简报 / 工作流设计 / 你的 Agent 方案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26679" y="1417320"/>
            <a:ext cx="3886200" cy="44348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01000" y="1691640"/>
            <a:ext cx="3337560" cy="475488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0" y="1773936"/>
            <a:ext cx="3337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B1220"/>
                </a:solidFill>
                <a:latin typeface="Microsoft YaHei"/>
                <a:ea typeface="Microsoft YaHei"/>
              </a:rPr>
              <a:t>对 agent 说这句话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2395728"/>
            <a:ext cx="3429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F8FAFC"/>
                </a:solidFill>
                <a:latin typeface="Microsoft YaHei"/>
                <a:ea typeface="Microsoft YaHei"/>
              </a:rPr>
              <a:t>“我要试一试
sjtubench”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568" y="34015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</a:rPr>
              <a:t>↓ 自动跑完 15 个任务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38862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4A3B8"/>
                </a:solidFill>
                <a:latin typeface="Microsoft YaHei"/>
                <a:ea typeface="Microsoft YaHei"/>
              </a:rPr>
              <a:t>1. 装好 sjtu-mcp + DSH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4233672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4A3B8"/>
                </a:solidFill>
                <a:latin typeface="Microsoft YaHei"/>
                <a:ea typeface="Microsoft YaHei"/>
              </a:rPr>
              <a:t>2. 登录一次 jAccount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4581144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4A3B8"/>
                </a:solidFill>
                <a:latin typeface="Microsoft YaHei"/>
                <a:ea typeface="Microsoft YaHei"/>
              </a:rPr>
              <a:t>3. 跑完可选上榜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73568" y="5257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22D3EE"/>
                </a:solidFill>
                <a:latin typeface="Microsoft YaHei"/>
                <a:ea typeface="Microsoft YaHei"/>
              </a:rPr>
              <a:t>LLM 评分 · 匿名排行 · 隐私不出本机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0F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291072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Microsoft YaHei"/>
                <a:ea typeface="Microsoft YaHei"/>
              </a:rPr>
              <a:t>github.com/zhenghong-li/sjtu-bench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63093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Microsoft YaHei"/>
                <a:ea typeface="Microsoft YaHei"/>
              </a:rPr>
              <a:t>娱乐向 · 非官方 · MIT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